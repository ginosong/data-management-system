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9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2A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重大科技设施运行数据管理系统</a:t>
            </a:r>
          </a:p>
          <a:p>
            <a:r>
              <a:rPr sz="2000">
                <a:solidFill>
                  <a:srgbClr val="CDE2FF"/>
                </a:solidFill>
                <a:latin typeface="Microsoft YaHei"/>
              </a:rPr>
              <a:t>产品使用手册汇报版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80360"/>
            <a:ext cx="56692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83464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聚焦固定月报模板填报、查询统计、Excel 导入导出与中心级数据权限。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适用于系统管理员、报表填报员和管理层查看月度运行情况。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本稿基于仓库内现有产品信息整理，便于汇报、培训与方案说明。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3886200" cy="3566160"/>
          </a:xfrm>
          <a:prstGeom prst="roundRect">
            <a:avLst/>
          </a:prstGeom>
          <a:solidFill>
            <a:srgbClr val="14396A"/>
          </a:solidFill>
          <a:ln>
            <a:solidFill>
              <a:srgbClr val="498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6679" y="1874519"/>
            <a:ext cx="1463040" cy="384048"/>
          </a:xfrm>
          <a:prstGeom prst="roundRect">
            <a:avLst/>
          </a:prstGeom>
          <a:solidFill>
            <a:srgbClr val="1B9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核心能力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359152"/>
            <a:ext cx="3474720" cy="8686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4688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月报管理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834640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固定模板录入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公式回填与校验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状态留痕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310128"/>
            <a:ext cx="3474720" cy="8686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41985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查询统计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785616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工作台概览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单位/中心汇总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亮点展示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261104"/>
            <a:ext cx="3474720" cy="8686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3708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系统治理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736592"/>
            <a:ext cx="3127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主数据维护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账号角色授权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中心级数据范围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1. 产品定位与建设目标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面向重大科技设施月度运营数据采集、管理与统计分析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657600" cy="1965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建设背景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33101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原有 Excel 线下汇总分散，口径不统一，月度数据追踪难。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需要形成统一模板、统一校验、统一导入导出和统一权限治理。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71600"/>
            <a:ext cx="3657600" cy="1965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81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建设目标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47088"/>
            <a:ext cx="33101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把固定模板转成标准化系统表单。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提升月报填报效率，降低人工校验成本。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为管理层提供可视化查询和统计依据。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371600"/>
            <a:ext cx="3383280" cy="19659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4813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典型使用对象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847088"/>
            <a:ext cx="303580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系统管理员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报表填报员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科研/运营管理人员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系统覆盖“登录认证 → 月报填报 → 查询统计 → 主数据维护 → 权限治理”的全链路。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默认内置管理员 admin / admin123，支持报表填报员账号与中心级数据权限示例。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当前版本已经具备独立部署、前后端分离和本地 H2/MySQL 双环境支持能力。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2. 业务范围与核心模块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围绕“按月填报 + 查询统计 + 权限控制”组织功能边界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834640" cy="15087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工作台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展示最新月份、关键指标、填报覆盖率与中心亮点。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508760"/>
            <a:ext cx="2834640" cy="15087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18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月报填报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84248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按固定模板录入，支持公式字段自动汇总与业务校验。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508760"/>
            <a:ext cx="2834640" cy="15087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59" y="1618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月报列表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1984248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按月份、统计单位、技术中心、关键字查询，支持导出与删除。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2834640" cy="15087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6732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主数据管理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8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维护统计单位与技术中心，支持新增与停用。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657600"/>
            <a:ext cx="2834640" cy="15087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76732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系统管理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33088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维护账号、角色、权限及重置密码。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657600"/>
            <a:ext cx="2834640" cy="15087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59" y="376732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Excel 导入导出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4133088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导出模板、导出已填报月报、按模板回填导入。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3. 角色分工与数据权限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页面权限按角色控制，数据权限按技术中心控制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566160" cy="2103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系统管理员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32186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拥有工作台、月报、主数据、账号角色等全部能力。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负责维护技术中心、用户、角色与权限策略。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66160" cy="2103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报表填报员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92808"/>
            <a:ext cx="32186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可查看工作台、月报列表、月报填报、导出与主数据。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仅能维护被授权技术中心的数据。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417320"/>
            <a:ext cx="3566160" cy="2103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示例授权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92808"/>
            <a:ext cx="32186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张三账号被授权维护“转化医学研究院”下 2 个技术中心。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管理员可随时调整角色和中心范围。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1645920" cy="38404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权限原则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页面权限：控制菜单是否可见，例如工作台、月报列表、账号管理。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动作权限：控制录入、导出、维护、重置密码等操作能力。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数据权限：按技术中心授权，避免越权查看或修改非本中心数据。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4. 典型业务流程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以月报填报为主线，覆盖从登录到导出的闭环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417320" cy="384048"/>
          </a:xfrm>
          <a:prstGeom prst="round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87168"/>
            <a:ext cx="1691640" cy="14173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9689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登录系统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62656"/>
            <a:ext cx="1344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用户名密码登录，获取 JWT 会话</a:t>
            </a:r>
          </a:p>
        </p:txBody>
      </p:sp>
      <p:sp>
        <p:nvSpPr>
          <p:cNvPr id="12" name="Chevron 11"/>
          <p:cNvSpPr/>
          <p:nvPr/>
        </p:nvSpPr>
        <p:spPr>
          <a:xfrm>
            <a:off x="2194560" y="2898648"/>
            <a:ext cx="256032" cy="384048"/>
          </a:xfrm>
          <a:prstGeom prst="chevron">
            <a:avLst/>
          </a:prstGeom>
          <a:solidFill>
            <a:srgbClr val="2A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2011680"/>
            <a:ext cx="1417320" cy="384048"/>
          </a:xfrm>
          <a:prstGeom prst="roundRect">
            <a:avLst/>
          </a:prstGeom>
          <a:solidFill>
            <a:srgbClr val="1B9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487168"/>
            <a:ext cx="1691640" cy="14173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59689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进入工作台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62656"/>
            <a:ext cx="1344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查看最新月份、总体指标与待处理概况</a:t>
            </a:r>
          </a:p>
        </p:txBody>
      </p:sp>
      <p:sp>
        <p:nvSpPr>
          <p:cNvPr id="17" name="Chevron 16"/>
          <p:cNvSpPr/>
          <p:nvPr/>
        </p:nvSpPr>
        <p:spPr>
          <a:xfrm>
            <a:off x="4069079" y="2898648"/>
            <a:ext cx="256032" cy="384048"/>
          </a:xfrm>
          <a:prstGeom prst="chevron">
            <a:avLst/>
          </a:prstGeom>
          <a:solidFill>
            <a:srgbClr val="2A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2011680"/>
            <a:ext cx="1417320" cy="384048"/>
          </a:xfrm>
          <a:prstGeom prst="round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487168"/>
            <a:ext cx="1691640" cy="14173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59689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选择月份/中心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962656"/>
            <a:ext cx="1344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定位本月、本单位、本技术中心的填报对象</a:t>
            </a:r>
          </a:p>
        </p:txBody>
      </p:sp>
      <p:sp>
        <p:nvSpPr>
          <p:cNvPr id="22" name="Chevron 21"/>
          <p:cNvSpPr/>
          <p:nvPr/>
        </p:nvSpPr>
        <p:spPr>
          <a:xfrm>
            <a:off x="5943600" y="2898648"/>
            <a:ext cx="256032" cy="384048"/>
          </a:xfrm>
          <a:prstGeom prst="chevron">
            <a:avLst/>
          </a:prstGeom>
          <a:solidFill>
            <a:srgbClr val="2A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59" y="2011680"/>
            <a:ext cx="1417320" cy="384048"/>
          </a:xfrm>
          <a:prstGeom prst="roundRect">
            <a:avLst/>
          </a:prstGeom>
          <a:solidFill>
            <a:srgbClr val="1B9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199" y="2487168"/>
            <a:ext cx="1691640" cy="14173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259689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录入或导入月报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2962656"/>
            <a:ext cx="1344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支持表单录入，也支持按模板 Excel 导入</a:t>
            </a:r>
          </a:p>
        </p:txBody>
      </p:sp>
      <p:sp>
        <p:nvSpPr>
          <p:cNvPr id="27" name="Chevron 26"/>
          <p:cNvSpPr/>
          <p:nvPr/>
        </p:nvSpPr>
        <p:spPr>
          <a:xfrm>
            <a:off x="7818119" y="2898648"/>
            <a:ext cx="256032" cy="384048"/>
          </a:xfrm>
          <a:prstGeom prst="chevron">
            <a:avLst/>
          </a:prstGeom>
          <a:solidFill>
            <a:srgbClr val="2A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79" y="2011680"/>
            <a:ext cx="1417320" cy="384048"/>
          </a:xfrm>
          <a:prstGeom prst="round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487168"/>
            <a:ext cx="1691640" cy="14173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259689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提交与校验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2962656"/>
            <a:ext cx="1344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系统执行公式汇总、必填检查和业务规则校验</a:t>
            </a:r>
          </a:p>
        </p:txBody>
      </p:sp>
      <p:sp>
        <p:nvSpPr>
          <p:cNvPr id="32" name="Chevron 31"/>
          <p:cNvSpPr/>
          <p:nvPr/>
        </p:nvSpPr>
        <p:spPr>
          <a:xfrm>
            <a:off x="9692640" y="2898648"/>
            <a:ext cx="256032" cy="384048"/>
          </a:xfrm>
          <a:prstGeom prst="chevron">
            <a:avLst/>
          </a:prstGeom>
          <a:solidFill>
            <a:srgbClr val="2A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8400" y="2011680"/>
            <a:ext cx="1417320" cy="384048"/>
          </a:xfrm>
          <a:prstGeom prst="roundRect">
            <a:avLst/>
          </a:prstGeom>
          <a:solidFill>
            <a:srgbClr val="1B9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2487168"/>
            <a:ext cx="1691640" cy="14173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259689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查询与导出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962656"/>
            <a:ext cx="1344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在月报列表中检索、查看详情并导出 Excel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5262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填报与 Excel 导入导出共用同一套后端校验逻辑，减少线上线下口径偏差。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审核流程已预留，当前样例数据默认审核通过，便于后续扩展完整状态机。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5. 工作台与统计分析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为管理者提供月度总览、汇总分析与中心亮点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29169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C7A"/>
                </a:solidFill>
                <a:latin typeface="Microsoft YaHei"/>
              </a:rPr>
              <a:t>本月填报中心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19656"/>
            <a:ext cx="2916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66CC"/>
                </a:solidFill>
                <a:latin typeface="Calibri"/>
              </a:rPr>
              <a:t>2 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67128"/>
            <a:ext cx="2916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6C7A"/>
                </a:solidFill>
                <a:latin typeface="Microsoft YaHei"/>
              </a:rPr>
              <a:t>已填报技术中心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50876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618488"/>
            <a:ext cx="29169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C7A"/>
                </a:solidFill>
                <a:latin typeface="Microsoft YaHei"/>
              </a:rPr>
              <a:t>填报覆盖率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1819656"/>
            <a:ext cx="2916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66CC"/>
                </a:solidFill>
                <a:latin typeface="Calibri"/>
              </a:rPr>
              <a:t>8.0 %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2167128"/>
            <a:ext cx="2916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6C7A"/>
                </a:solidFill>
                <a:latin typeface="Microsoft YaHei"/>
              </a:rPr>
              <a:t>按启用技术中心统计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0876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618488"/>
            <a:ext cx="29169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C7A"/>
                </a:solidFill>
                <a:latin typeface="Microsoft YaHei"/>
              </a:rPr>
              <a:t>运行机时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819656"/>
            <a:ext cx="2916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66CC"/>
                </a:solidFill>
                <a:latin typeface="Calibri"/>
              </a:rPr>
              <a:t>310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167128"/>
            <a:ext cx="2916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6C7A"/>
                </a:solidFill>
                <a:latin typeface="Microsoft YaHei"/>
              </a:rPr>
              <a:t>月度总运行机时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2852928"/>
            <a:ext cx="29169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C7A"/>
                </a:solidFill>
                <a:latin typeface="Microsoft YaHei"/>
              </a:rPr>
              <a:t>服务机时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054096"/>
            <a:ext cx="2916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66CC"/>
                </a:solidFill>
                <a:latin typeface="Calibri"/>
              </a:rPr>
              <a:t>223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401568"/>
            <a:ext cx="2916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6C7A"/>
                </a:solidFill>
                <a:latin typeface="Microsoft YaHei"/>
              </a:rPr>
              <a:t>月度总服务机时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274320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2852928"/>
            <a:ext cx="29169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C7A"/>
                </a:solidFill>
                <a:latin typeface="Microsoft YaHei"/>
              </a:rPr>
              <a:t>开放机时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1" y="3054096"/>
            <a:ext cx="2916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66CC"/>
                </a:solidFill>
                <a:latin typeface="Calibri"/>
              </a:rPr>
              <a:t>166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1" y="3401568"/>
            <a:ext cx="2916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6C7A"/>
                </a:solidFill>
                <a:latin typeface="Microsoft YaHei"/>
              </a:rPr>
              <a:t>对外开放机时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74320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2852928"/>
            <a:ext cx="29169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C7A"/>
                </a:solidFill>
                <a:latin typeface="Microsoft YaHei"/>
              </a:rPr>
              <a:t>培训课时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054096"/>
            <a:ext cx="2916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E66CC"/>
                </a:solidFill>
                <a:latin typeface="Calibri"/>
              </a:rPr>
              <a:t>68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401568"/>
            <a:ext cx="2916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F6C7A"/>
                </a:solidFill>
                <a:latin typeface="Microsoft YaHei"/>
              </a:rPr>
              <a:t>三类培训合计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160520"/>
            <a:ext cx="5349240" cy="16459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2702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单位汇总示例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636008"/>
            <a:ext cx="50017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转化医学研究院：月报 2 份，运行机时 310，服务机时 223，开放机时 166。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适合查看各统计单位整体完成情况和资源利用水平。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160520"/>
            <a:ext cx="5166360" cy="16459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27024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中心亮点示例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636008"/>
            <a:ext cx="48188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生物医学制造与检测技术中心：运行机时 168，服务机时 120。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生物信息（数字医学）技术中心：运行机时 142，服务机时 103。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6. 月报填报与模板规则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固定模板结构化录入，重点字段自动校验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566160" cy="24231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模板结构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321868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模板按“分组 → 分段 → 字段”组织。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已覆盖基本运行、对外开放、服务科研、科普工作、培训课时等主题。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66160" cy="24231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录入规则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92808"/>
            <a:ext cx="321868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支持必填、只读、帮助提示、数值范围与公式表达式。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例如：服务机时不得大于运行机时。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417320"/>
            <a:ext cx="3566160" cy="24231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自动汇总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92808"/>
            <a:ext cx="321868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国际 + 国内开放机时 = 开放机时总数。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国际 + 国内外部用户数 = 外部用户总数。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60520"/>
            <a:ext cx="10469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用户进入“月报填报”后，按月份、统计单位、技术中心选择目标填报对象。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系统支持单条填报、编辑已有月报，以及导入模板文件覆盖现有数据。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公式字段只读展示，减少人工合计错误，提高月报质量。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7. 查询、导出与 Excel 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支持检索、查看、导出与模板回填，兼顾在线与线下场景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657600" cy="20574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270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月报列表能力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33101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可按月份、统计单位、技术中心、关键字组合查询。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支持列表查看、详情查看、删除与导出。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657600" cy="20574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270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模板导出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92808"/>
            <a:ext cx="33101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支持导出空白模板，按指定月份、单位、中心生成 Excel。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便于线下分发后统一回填。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417320"/>
            <a:ext cx="3291840" cy="20574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5270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已填报导出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892808"/>
            <a:ext cx="29443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支持按月报记录导出已填报 Excel。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方便留档、上报或二次分析。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794760"/>
            <a:ext cx="1828800" cy="384048"/>
          </a:xfrm>
          <a:prstGeom prst="roundRect">
            <a:avLst/>
          </a:prstGeom>
          <a:solidFill>
            <a:srgbClr val="1B9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协同价值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10515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线上填报与 Excel 导入导出共用规则，避免“两套模板、两套口径”。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支持从线下采集过渡到线上集中管理，适合逐步推广。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导出能力可满足上级汇报、归档留存和跨部门共享需求。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8. 主数据与系统管理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保障组织口径统一、账号可控、权限可追踪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520440" cy="21945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主数据管理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31729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维护统计单位与技术中心编码、名称及启停状态。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支持新增技术中心，保持模板对象与组织结构一致。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20440" cy="21945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账号管理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92808"/>
            <a:ext cx="31729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维护用户名、显示名、管理员标记、启用状态、角色与中心授权。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支持重置密码与停用账号。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417320"/>
            <a:ext cx="3520440" cy="219456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270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角色管理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92808"/>
            <a:ext cx="317296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维护角色编码、名称、启用状态与权限集合。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典型角色：系统管理员、报表填报员。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10469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系统管理模块是全系统稳定运行的基础，决定组织、人员与权限的统一口径。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当技术中心调整或新增时，无需修改业务流程，只需维护主数据即可接入。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权限策略支持继续扩展审计日志、密码策略和账号锁定等安全治理能力。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9. 技术架构与部署方式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前后端分离，适合独立部署与后续持续迭代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566160" cy="22402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Java 17 + Spring Boot 3.5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Spring Data JPA、Flyway、JWT 认证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 MySQL，开发环境可使用 H2 内存库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66160" cy="22402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92808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React 18 + TypeScript + Vite 5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PC 端后台风格，菜单按权限动态显示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支持登录态保持与令牌刷新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417320"/>
            <a:ext cx="3566160" cy="224028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接口层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92808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认证：/api/auth/login、/refresh、/me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月报：/api/reports、/import、/export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系统：/api/system/access-overview、/users、/roles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10469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默认可连接 MySQL；若本地无数据库，可使用 H2 profile 快速体验。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前后端分离部署便于后续对接 CI/CD、制品发布和运行监控。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Microsoft YaHei"/>
              </a:rPr>
              <a:t>当前版本已具备编译与构建验证能力，适合作为继续深化的基础版本。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94F"/>
                </a:solidFill>
                <a:latin typeface="Microsoft YaHei"/>
              </a:rPr>
              <a:t>10. 使用价值与后续演进建议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  <a:latin typeface="Microsoft YaHei"/>
              </a:rPr>
              <a:t>从“可填报”走向“可分析、可治理、可持续运营”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/>
              </a:rPr>
              <a:t>重大科技设施运行数据管理系统  ·  产品使用手册汇报版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566160" cy="2103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当前价值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32186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统一模板、统一规则、统一口径。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提升月报采集效率，降低汇总与核对成本。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为管理层提供可视化查询与运营数据底座。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66160" cy="2103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推广建议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92808"/>
            <a:ext cx="32186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先以现有技术中心试点，再逐步扩展到更多统计单位。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同步梳理线下填报口径，确保系统字段与业务定义一致。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417320"/>
            <a:ext cx="3566160" cy="21031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94F"/>
                </a:solidFill>
                <a:latin typeface="Microsoft YaHei"/>
              </a:rPr>
              <a:t>下一步方向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92808"/>
            <a:ext cx="32186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补充完整审核流与审核意见流转。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增加审计日志、密码策略、账号锁定等治理能力。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C3E50"/>
                </a:solidFill>
                <a:latin typeface="Microsoft YaHei"/>
              </a:rPr>
              <a:t>完善 CI/CD、部署监控与运维能力。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66CC"/>
                </a:solidFill>
                <a:latin typeface="Microsoft YaHei"/>
              </a:rPr>
              <a:t>谢谢！如需，我可以继续补充“演讲备注版”或“领导汇报精简版”。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